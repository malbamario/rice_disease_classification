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Hasil Split Dataset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Sheet1!$A$8</c:f>
              <c:strCache>
                <c:ptCount val="1"/>
                <c:pt idx="0">
                  <c:v>Test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Sheet1!$B$7:$F$7</c:f>
              <c:strCache>
                <c:ptCount val="5"/>
                <c:pt idx="0">
                  <c:v>Bacterial leaf blight</c:v>
                </c:pt>
                <c:pt idx="1">
                  <c:v>blast</c:v>
                </c:pt>
                <c:pt idx="2">
                  <c:v>Brown spot</c:v>
                </c:pt>
                <c:pt idx="3">
                  <c:v>normal</c:v>
                </c:pt>
                <c:pt idx="4">
                  <c:v>tungro</c:v>
                </c:pt>
              </c:strCache>
            </c:strRef>
          </c:cat>
          <c:val>
            <c:numRef>
              <c:f>Sheet1!$B$8:$F$8</c:f>
              <c:numCache>
                <c:formatCode>General</c:formatCode>
                <c:ptCount val="5"/>
                <c:pt idx="0">
                  <c:v>200</c:v>
                </c:pt>
                <c:pt idx="1">
                  <c:v>200</c:v>
                </c:pt>
                <c:pt idx="2">
                  <c:v>200</c:v>
                </c:pt>
                <c:pt idx="3">
                  <c:v>200</c:v>
                </c:pt>
                <c:pt idx="4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B8-4FAD-8BED-458021D9133B}"/>
            </c:ext>
          </c:extLst>
        </c:ser>
        <c:ser>
          <c:idx val="1"/>
          <c:order val="1"/>
          <c:tx>
            <c:strRef>
              <c:f>Sheet1!$A$9</c:f>
              <c:strCache>
                <c:ptCount val="1"/>
                <c:pt idx="0">
                  <c:v>Train+Validation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Sheet1!$B$7:$F$7</c:f>
              <c:strCache>
                <c:ptCount val="5"/>
                <c:pt idx="0">
                  <c:v>Bacterial leaf blight</c:v>
                </c:pt>
                <c:pt idx="1">
                  <c:v>blast</c:v>
                </c:pt>
                <c:pt idx="2">
                  <c:v>Brown spot</c:v>
                </c:pt>
                <c:pt idx="3">
                  <c:v>normal</c:v>
                </c:pt>
                <c:pt idx="4">
                  <c:v>tungro</c:v>
                </c:pt>
              </c:strCache>
            </c:strRef>
          </c:cat>
          <c:val>
            <c:numRef>
              <c:f>Sheet1!$B$9:$F$9</c:f>
              <c:numCache>
                <c:formatCode>General</c:formatCode>
                <c:ptCount val="5"/>
                <c:pt idx="0">
                  <c:v>1306</c:v>
                </c:pt>
                <c:pt idx="1">
                  <c:v>1065</c:v>
                </c:pt>
                <c:pt idx="2">
                  <c:v>1267</c:v>
                </c:pt>
                <c:pt idx="3">
                  <c:v>1357</c:v>
                </c:pt>
                <c:pt idx="4">
                  <c:v>1108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BB8-4FAD-8BED-458021D913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21085615"/>
        <c:axId val="1021084655"/>
      </c:barChart>
      <c:catAx>
        <c:axId val="10210856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1084655"/>
        <c:crosses val="autoZero"/>
        <c:auto val="1"/>
        <c:lblAlgn val="ctr"/>
        <c:lblOffset val="100"/>
        <c:noMultiLvlLbl val="0"/>
      </c:catAx>
      <c:valAx>
        <c:axId val="10210846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10856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Hasil</a:t>
            </a:r>
            <a:r>
              <a:rPr lang="en-ID" baseline="0"/>
              <a:t> Augmentasi</a:t>
            </a:r>
            <a:endParaRPr lang="en-ID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D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Real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Sheet1!$B$1:$F$1</c:f>
              <c:strCache>
                <c:ptCount val="5"/>
                <c:pt idx="0">
                  <c:v>bacterial leaf blight</c:v>
                </c:pt>
                <c:pt idx="1">
                  <c:v>blast</c:v>
                </c:pt>
                <c:pt idx="2">
                  <c:v>brown spot</c:v>
                </c:pt>
                <c:pt idx="3">
                  <c:v>normal</c:v>
                </c:pt>
                <c:pt idx="4">
                  <c:v>tungro</c:v>
                </c:pt>
              </c:strCache>
            </c:strRef>
          </c:cat>
          <c:val>
            <c:numRef>
              <c:f>Sheet1!$B$2:$F$2</c:f>
              <c:numCache>
                <c:formatCode>General</c:formatCode>
                <c:ptCount val="5"/>
                <c:pt idx="0">
                  <c:v>1306</c:v>
                </c:pt>
                <c:pt idx="1">
                  <c:v>1065</c:v>
                </c:pt>
                <c:pt idx="2">
                  <c:v>1267</c:v>
                </c:pt>
                <c:pt idx="3">
                  <c:v>1357</c:v>
                </c:pt>
                <c:pt idx="4">
                  <c:v>1108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ED-4FB7-A5BC-868880B3BE87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Augmented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Sheet1!$B$1:$F$1</c:f>
              <c:strCache>
                <c:ptCount val="5"/>
                <c:pt idx="0">
                  <c:v>bacterial leaf blight</c:v>
                </c:pt>
                <c:pt idx="1">
                  <c:v>blast</c:v>
                </c:pt>
                <c:pt idx="2">
                  <c:v>brown spot</c:v>
                </c:pt>
                <c:pt idx="3">
                  <c:v>normal</c:v>
                </c:pt>
                <c:pt idx="4">
                  <c:v>tungro</c:v>
                </c:pt>
              </c:strCache>
            </c:strRef>
          </c:cat>
          <c:val>
            <c:numRef>
              <c:f>Sheet1!$B$3:$F$3</c:f>
              <c:numCache>
                <c:formatCode>General</c:formatCode>
                <c:ptCount val="5"/>
                <c:pt idx="0">
                  <c:v>3694</c:v>
                </c:pt>
                <c:pt idx="1">
                  <c:v>3935</c:v>
                </c:pt>
                <c:pt idx="2">
                  <c:v>3733</c:v>
                </c:pt>
                <c:pt idx="3">
                  <c:v>3643</c:v>
                </c:pt>
                <c:pt idx="4">
                  <c:v>3892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AED-4FB7-A5BC-868880B3BE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69102687"/>
        <c:axId val="869102207"/>
      </c:barChart>
      <c:catAx>
        <c:axId val="8691026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9102207"/>
        <c:crosses val="autoZero"/>
        <c:auto val="1"/>
        <c:lblAlgn val="ctr"/>
        <c:lblOffset val="100"/>
        <c:noMultiLvlLbl val="0"/>
      </c:catAx>
      <c:valAx>
        <c:axId val="8691022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91026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D"/>
              <a:t>Hasil Grid</a:t>
            </a:r>
            <a:r>
              <a:rPr lang="en-ID" baseline="0"/>
              <a:t> Search</a:t>
            </a:r>
            <a:endParaRPr lang="en-ID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D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Sheet1!$F$32</c:f>
              <c:strCache>
                <c:ptCount val="1"/>
                <c:pt idx="0">
                  <c:v>mean_test_accuracy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Sheet1!$A$33:$A$39</c:f>
              <c:strCache>
                <c:ptCount val="7"/>
                <c:pt idx="0">
                  <c:v>Momen warna HSV</c:v>
                </c:pt>
                <c:pt idx="1">
                  <c:v>Momen warna LAB</c:v>
                </c:pt>
                <c:pt idx="2">
                  <c:v>LBP</c:v>
                </c:pt>
                <c:pt idx="3">
                  <c:v>GLCM</c:v>
                </c:pt>
                <c:pt idx="4">
                  <c:v>Warna</c:v>
                </c:pt>
                <c:pt idx="5">
                  <c:v>Tekstur</c:v>
                </c:pt>
                <c:pt idx="6">
                  <c:v>Semua</c:v>
                </c:pt>
              </c:strCache>
            </c:strRef>
          </c:cat>
          <c:val>
            <c:numRef>
              <c:f>Sheet1!$F$33:$F$39</c:f>
              <c:numCache>
                <c:formatCode>General</c:formatCode>
                <c:ptCount val="7"/>
                <c:pt idx="0">
                  <c:v>0.98167899999999997</c:v>
                </c:pt>
                <c:pt idx="1">
                  <c:v>0.98240499999999997</c:v>
                </c:pt>
                <c:pt idx="2">
                  <c:v>0.91924099999999997</c:v>
                </c:pt>
                <c:pt idx="3">
                  <c:v>0.74784200000000001</c:v>
                </c:pt>
                <c:pt idx="4">
                  <c:v>0.98351999999999995</c:v>
                </c:pt>
                <c:pt idx="5">
                  <c:v>0.95880100000000001</c:v>
                </c:pt>
                <c:pt idx="6">
                  <c:v>0.98343999999999998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20-4E84-81D1-345AC54B9F12}"/>
            </c:ext>
          </c:extLst>
        </c:ser>
        <c:ser>
          <c:idx val="1"/>
          <c:order val="1"/>
          <c:tx>
            <c:strRef>
              <c:f>Sheet1!$G$32</c:f>
              <c:strCache>
                <c:ptCount val="1"/>
                <c:pt idx="0">
                  <c:v>mean_test_precision_macro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Sheet1!$A$33:$A$39</c:f>
              <c:strCache>
                <c:ptCount val="7"/>
                <c:pt idx="0">
                  <c:v>Momen warna HSV</c:v>
                </c:pt>
                <c:pt idx="1">
                  <c:v>Momen warna LAB</c:v>
                </c:pt>
                <c:pt idx="2">
                  <c:v>LBP</c:v>
                </c:pt>
                <c:pt idx="3">
                  <c:v>GLCM</c:v>
                </c:pt>
                <c:pt idx="4">
                  <c:v>Warna</c:v>
                </c:pt>
                <c:pt idx="5">
                  <c:v>Tekstur</c:v>
                </c:pt>
                <c:pt idx="6">
                  <c:v>Semua</c:v>
                </c:pt>
              </c:strCache>
            </c:strRef>
          </c:cat>
          <c:val>
            <c:numRef>
              <c:f>Sheet1!$G$33:$G$39</c:f>
              <c:numCache>
                <c:formatCode>General</c:formatCode>
                <c:ptCount val="7"/>
                <c:pt idx="0">
                  <c:v>0.98175599999999996</c:v>
                </c:pt>
                <c:pt idx="1">
                  <c:v>0.98257899999999998</c:v>
                </c:pt>
                <c:pt idx="2">
                  <c:v>0.91974999999999996</c:v>
                </c:pt>
                <c:pt idx="3">
                  <c:v>0.75838499999999998</c:v>
                </c:pt>
                <c:pt idx="4">
                  <c:v>0.98369899999999999</c:v>
                </c:pt>
                <c:pt idx="5">
                  <c:v>0.95910099999999998</c:v>
                </c:pt>
                <c:pt idx="6">
                  <c:v>0.98353199999999996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B20-4E84-81D1-345AC54B9F12}"/>
            </c:ext>
          </c:extLst>
        </c:ser>
        <c:ser>
          <c:idx val="2"/>
          <c:order val="2"/>
          <c:tx>
            <c:strRef>
              <c:f>Sheet1!$H$32</c:f>
              <c:strCache>
                <c:ptCount val="1"/>
                <c:pt idx="0">
                  <c:v>mean_test_recall_macro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Sheet1!$A$33:$A$39</c:f>
              <c:strCache>
                <c:ptCount val="7"/>
                <c:pt idx="0">
                  <c:v>Momen warna HSV</c:v>
                </c:pt>
                <c:pt idx="1">
                  <c:v>Momen warna LAB</c:v>
                </c:pt>
                <c:pt idx="2">
                  <c:v>LBP</c:v>
                </c:pt>
                <c:pt idx="3">
                  <c:v>GLCM</c:v>
                </c:pt>
                <c:pt idx="4">
                  <c:v>Warna</c:v>
                </c:pt>
                <c:pt idx="5">
                  <c:v>Tekstur</c:v>
                </c:pt>
                <c:pt idx="6">
                  <c:v>Semua</c:v>
                </c:pt>
              </c:strCache>
            </c:strRef>
          </c:cat>
          <c:val>
            <c:numRef>
              <c:f>Sheet1!$H$33:$H$39</c:f>
              <c:numCache>
                <c:formatCode>General</c:formatCode>
                <c:ptCount val="7"/>
                <c:pt idx="0">
                  <c:v>0.98168</c:v>
                </c:pt>
                <c:pt idx="1">
                  <c:v>0.98239500000000002</c:v>
                </c:pt>
                <c:pt idx="2">
                  <c:v>0.91924399999999995</c:v>
                </c:pt>
                <c:pt idx="3">
                  <c:v>0.74784499999999998</c:v>
                </c:pt>
                <c:pt idx="4">
                  <c:v>0.98351999999999995</c:v>
                </c:pt>
                <c:pt idx="5">
                  <c:v>0.95880200000000004</c:v>
                </c:pt>
                <c:pt idx="6">
                  <c:v>0.98344100000000001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B20-4E84-81D1-345AC54B9F12}"/>
            </c:ext>
          </c:extLst>
        </c:ser>
        <c:ser>
          <c:idx val="3"/>
          <c:order val="3"/>
          <c:tx>
            <c:strRef>
              <c:f>Sheet1!$I$32</c:f>
              <c:strCache>
                <c:ptCount val="1"/>
                <c:pt idx="0">
                  <c:v>mean_test_f1_macro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Sheet1!$A$33:$A$39</c:f>
              <c:strCache>
                <c:ptCount val="7"/>
                <c:pt idx="0">
                  <c:v>Momen warna HSV</c:v>
                </c:pt>
                <c:pt idx="1">
                  <c:v>Momen warna LAB</c:v>
                </c:pt>
                <c:pt idx="2">
                  <c:v>LBP</c:v>
                </c:pt>
                <c:pt idx="3">
                  <c:v>GLCM</c:v>
                </c:pt>
                <c:pt idx="4">
                  <c:v>Warna</c:v>
                </c:pt>
                <c:pt idx="5">
                  <c:v>Tekstur</c:v>
                </c:pt>
                <c:pt idx="6">
                  <c:v>Semua</c:v>
                </c:pt>
              </c:strCache>
            </c:strRef>
          </c:cat>
          <c:val>
            <c:numRef>
              <c:f>Sheet1!$I$33:$I$39</c:f>
              <c:numCache>
                <c:formatCode>General</c:formatCode>
                <c:ptCount val="7"/>
                <c:pt idx="0">
                  <c:v>0.98168100000000003</c:v>
                </c:pt>
                <c:pt idx="1">
                  <c:v>0.98241900000000004</c:v>
                </c:pt>
                <c:pt idx="2">
                  <c:v>0.919157</c:v>
                </c:pt>
                <c:pt idx="3">
                  <c:v>0.74787999999999999</c:v>
                </c:pt>
                <c:pt idx="4">
                  <c:v>0.98352600000000001</c:v>
                </c:pt>
                <c:pt idx="5">
                  <c:v>0.95880399999999999</c:v>
                </c:pt>
                <c:pt idx="6">
                  <c:v>0.98345099999999996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B20-4E84-81D1-345AC54B9F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91457951"/>
        <c:axId val="1091459871"/>
      </c:barChart>
      <c:catAx>
        <c:axId val="1091457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1459871"/>
        <c:crosses val="autoZero"/>
        <c:auto val="1"/>
        <c:lblAlgn val="ctr"/>
        <c:lblOffset val="100"/>
        <c:noMultiLvlLbl val="0"/>
      </c:catAx>
      <c:valAx>
        <c:axId val="10914598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1457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8011-A502-7C09-117B-4DB6C05E55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BDCD47-8A6A-FD20-F35B-65A9728E91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0BC0D-B5D9-9BD8-5967-10994C5C4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4E43E-7932-49ED-8C31-05926AC4F099}" type="datetimeFigureOut">
              <a:rPr lang="en-ID" smtClean="0"/>
              <a:t>28/01/2026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F91FB-B7C8-76AD-74A8-ACD0F1B9C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9BF8D-F500-31C1-F864-D9A5579CD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9BE7-AC0F-458C-BB2C-BA13D216471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27365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76712-6B81-4AF2-DD76-273BDC817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F0B26-4B5A-537F-05DD-ED80EDA37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A14FD-2C61-0D47-6B26-8F70C2702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4E43E-7932-49ED-8C31-05926AC4F099}" type="datetimeFigureOut">
              <a:rPr lang="en-ID" smtClean="0"/>
              <a:t>28/01/2026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CA460-5E7E-BF3C-18C3-1B638C3B0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1DA6A-5CDE-66AC-DE9B-6AA4D27B3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9BE7-AC0F-458C-BB2C-BA13D216471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3811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213F2-861C-5D90-B84D-2D7581E61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38105A-DB36-544E-F547-802DD7F46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D003C-AE2F-EEFE-2D17-2C6263197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4E43E-7932-49ED-8C31-05926AC4F099}" type="datetimeFigureOut">
              <a:rPr lang="en-ID" smtClean="0"/>
              <a:t>28/01/2026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2CC36-2A15-F72D-6393-833AB074B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9FE20-A926-1954-64A7-C37E3C7AC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9BE7-AC0F-458C-BB2C-BA13D216471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08205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9E4D3-5A59-1FEB-752C-4E2BFC038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3993B-F45A-4503-403C-7FF6B61D6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CBAA53-0535-7390-F145-C17ACF3E94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B122F0-174F-6A11-355F-65FBDFBA1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4E43E-7932-49ED-8C31-05926AC4F099}" type="datetimeFigureOut">
              <a:rPr lang="en-ID" smtClean="0"/>
              <a:t>28/01/2026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568850-86B5-D0B4-0A4A-BFEA60415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B9C9F-1A58-4450-E70E-5449DB7C5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9BE7-AC0F-458C-BB2C-BA13D216471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74354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76782-F6EC-8E88-B9E4-9017CFE20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AEBF5-6A9D-B798-9E00-EE7F86BF0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5A5D51-2C54-7E66-1E89-F6BB102A7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B27CFD-1B1B-AE35-FE8F-A5DD3D9234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5AD53-D693-5CCF-B8E1-FAEE61DED7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2EAE40-35E1-CB00-44FD-EBDB31943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4E43E-7932-49ED-8C31-05926AC4F099}" type="datetimeFigureOut">
              <a:rPr lang="en-ID" smtClean="0"/>
              <a:t>28/01/2026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B9EFEF-82DE-F28E-058E-0D8C9C13F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FEB977-9F8F-A665-EBBA-08240877F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9BE7-AC0F-458C-BB2C-BA13D216471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26468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42B20-CD7B-E328-F703-129103034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42E076-E6E7-3FD7-A9D3-41248644E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4E43E-7932-49ED-8C31-05926AC4F099}" type="datetimeFigureOut">
              <a:rPr lang="en-ID" smtClean="0"/>
              <a:t>28/01/2026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3E2C57-AD5E-3E78-27DC-FAA187A8E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C5DEE3-7DAC-F86E-EFF3-1D1CC64E9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9BE7-AC0F-458C-BB2C-BA13D216471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49358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25FE40-BC28-AE73-CFB3-0F1E2710E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4E43E-7932-49ED-8C31-05926AC4F099}" type="datetimeFigureOut">
              <a:rPr lang="en-ID" smtClean="0"/>
              <a:t>28/01/2026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437678-8A54-CD97-72AB-A9BD77D2A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F8B54-F7DC-886E-6F25-E4B04110B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9BE7-AC0F-458C-BB2C-BA13D216471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43182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1B4D9-6DC5-1BD8-2776-CF68D0F6E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1AFDC-3E87-A2F6-74D1-55693C1CA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246C14-CA34-99C8-79D8-209F285127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537CEE-03F2-4CDB-D2AA-2EC3271A0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4E43E-7932-49ED-8C31-05926AC4F099}" type="datetimeFigureOut">
              <a:rPr lang="en-ID" smtClean="0"/>
              <a:t>28/01/2026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24ADE3-3B20-C39E-9AF2-014A024E8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591933-C03D-E93F-3162-6D6D43C94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9BE7-AC0F-458C-BB2C-BA13D216471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067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BD30E-AB7B-0681-1FB5-0EE9F062D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152AE2-E2D5-BC50-2E94-9B381658D1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532BCE-A9BF-2B07-976C-30D1BF3B50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206716-E1FF-2E58-65FD-D21E4408E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4E43E-7932-49ED-8C31-05926AC4F099}" type="datetimeFigureOut">
              <a:rPr lang="en-ID" smtClean="0"/>
              <a:t>28/01/2026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B1BD6F-57E9-C92C-AB1F-24444EB87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D73F7-791A-6A9B-7879-ED78EFF81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9BE7-AC0F-458C-BB2C-BA13D216471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35867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069AD-0D5C-B36F-54D2-0ED4186A0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949EFC-F8DB-9952-56D7-98EF0CD1B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88BB5-A4DE-06AD-F600-30F40286D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4E43E-7932-49ED-8C31-05926AC4F099}" type="datetimeFigureOut">
              <a:rPr lang="en-ID" smtClean="0"/>
              <a:t>28/01/2026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6CE3F-9757-22A9-7F78-BD5BA036F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75A3C-6768-6842-CE96-3F8AA7741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9BE7-AC0F-458C-BB2C-BA13D216471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43699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D55E13-4AC0-0077-6911-E14EEF07AF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CA8376-9074-CD10-B2AF-6F361C43E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EFB21-A8B0-6410-B8DC-2E99ABBDE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4E43E-7932-49ED-8C31-05926AC4F099}" type="datetimeFigureOut">
              <a:rPr lang="en-ID" smtClean="0"/>
              <a:t>28/01/2026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662DE-5C8B-F1E6-2A72-B8707E40E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72404-13CF-8296-6981-432FB432C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9BE7-AC0F-458C-BB2C-BA13D216471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07400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966D24-EF77-B3CF-59ED-84E6C6C7E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3F0082-93F8-6FBE-7895-45DF8EB7D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16E47-7999-769C-6EF9-4E2B29F9DA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F4E43E-7932-49ED-8C31-05926AC4F099}" type="datetimeFigureOut">
              <a:rPr lang="en-ID" smtClean="0"/>
              <a:t>28/01/2026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9CDE2-6CE2-CA45-4D4B-3E456BA91C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40718-F721-C613-DF60-717684B38F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4D9BE7-AC0F-458C-BB2C-BA13D216471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16970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873F8-D740-87B0-D5A7-E48F6DD6DE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Klasifikasi</a:t>
            </a:r>
            <a:r>
              <a:rPr lang="en-US" dirty="0"/>
              <a:t> </a:t>
            </a:r>
            <a:r>
              <a:rPr lang="en-US" dirty="0" err="1"/>
              <a:t>Penyakit</a:t>
            </a:r>
            <a:r>
              <a:rPr lang="en-US" dirty="0"/>
              <a:t> Padi </a:t>
            </a:r>
            <a:r>
              <a:rPr lang="en-US" dirty="0" err="1"/>
              <a:t>dengan</a:t>
            </a:r>
            <a:r>
              <a:rPr lang="en-US" dirty="0"/>
              <a:t> SVM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2C99D-60A5-C45A-615D-BBEED1033B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Mario Alfredo Bawu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116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A1471-79B4-F558-4150-3D837B91F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  <a:endParaRPr lang="en-ID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171A6C9-5741-2F50-DFC4-666DF70398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8026206"/>
              </p:ext>
            </p:extLst>
          </p:nvPr>
        </p:nvGraphicFramePr>
        <p:xfrm>
          <a:off x="838200" y="1574800"/>
          <a:ext cx="10379776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25129">
                  <a:extLst>
                    <a:ext uri="{9D8B030D-6E8A-4147-A177-3AD203B41FA5}">
                      <a16:colId xmlns:a16="http://schemas.microsoft.com/office/drawing/2014/main" val="4266719985"/>
                    </a:ext>
                  </a:extLst>
                </a:gridCol>
                <a:gridCol w="1246950">
                  <a:extLst>
                    <a:ext uri="{9D8B030D-6E8A-4147-A177-3AD203B41FA5}">
                      <a16:colId xmlns:a16="http://schemas.microsoft.com/office/drawing/2014/main" val="209190196"/>
                    </a:ext>
                  </a:extLst>
                </a:gridCol>
                <a:gridCol w="2129600">
                  <a:extLst>
                    <a:ext uri="{9D8B030D-6E8A-4147-A177-3AD203B41FA5}">
                      <a16:colId xmlns:a16="http://schemas.microsoft.com/office/drawing/2014/main" val="1381716360"/>
                    </a:ext>
                  </a:extLst>
                </a:gridCol>
                <a:gridCol w="722884">
                  <a:extLst>
                    <a:ext uri="{9D8B030D-6E8A-4147-A177-3AD203B41FA5}">
                      <a16:colId xmlns:a16="http://schemas.microsoft.com/office/drawing/2014/main" val="3682026246"/>
                    </a:ext>
                  </a:extLst>
                </a:gridCol>
                <a:gridCol w="1339596">
                  <a:extLst>
                    <a:ext uri="{9D8B030D-6E8A-4147-A177-3AD203B41FA5}">
                      <a16:colId xmlns:a16="http://schemas.microsoft.com/office/drawing/2014/main" val="681360299"/>
                    </a:ext>
                  </a:extLst>
                </a:gridCol>
                <a:gridCol w="932180">
                  <a:extLst>
                    <a:ext uri="{9D8B030D-6E8A-4147-A177-3AD203B41FA5}">
                      <a16:colId xmlns:a16="http://schemas.microsoft.com/office/drawing/2014/main" val="3056845081"/>
                    </a:ext>
                  </a:extLst>
                </a:gridCol>
                <a:gridCol w="865569">
                  <a:extLst>
                    <a:ext uri="{9D8B030D-6E8A-4147-A177-3AD203B41FA5}">
                      <a16:colId xmlns:a16="http://schemas.microsoft.com/office/drawing/2014/main" val="899475542"/>
                    </a:ext>
                  </a:extLst>
                </a:gridCol>
                <a:gridCol w="717868">
                  <a:extLst>
                    <a:ext uri="{9D8B030D-6E8A-4147-A177-3AD203B41FA5}">
                      <a16:colId xmlns:a16="http://schemas.microsoft.com/office/drawing/2014/main" val="3114066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</a:t>
                      </a:r>
                      <a:r>
                        <a:rPr lang="en-ID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kelas</a:t>
                      </a:r>
                      <a:endParaRPr lang="en-ID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Bacterial leaf blight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Brown spot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tungro</a:t>
                      </a:r>
                      <a:endParaRPr lang="en-ID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600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Deep 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1308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1694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8437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rice_leaves_disease</a:t>
                      </a:r>
                      <a:endParaRPr lang="en-ID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305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267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157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909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9307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Paddy_doctor_healthy</a:t>
                      </a:r>
                      <a:endParaRPr lang="en-ID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1400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1400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9959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1506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1265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1467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1557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1308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7103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632175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24955F43-9CC7-EA35-BD34-92F88DB356A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3656791"/>
              </p:ext>
            </p:extLst>
          </p:nvPr>
        </p:nvGraphicFramePr>
        <p:xfrm>
          <a:off x="838200" y="4086479"/>
          <a:ext cx="8513891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6194">
                  <a:extLst>
                    <a:ext uri="{9D8B030D-6E8A-4147-A177-3AD203B41FA5}">
                      <a16:colId xmlns:a16="http://schemas.microsoft.com/office/drawing/2014/main" val="4266719985"/>
                    </a:ext>
                  </a:extLst>
                </a:gridCol>
                <a:gridCol w="2129600">
                  <a:extLst>
                    <a:ext uri="{9D8B030D-6E8A-4147-A177-3AD203B41FA5}">
                      <a16:colId xmlns:a16="http://schemas.microsoft.com/office/drawing/2014/main" val="1381716360"/>
                    </a:ext>
                  </a:extLst>
                </a:gridCol>
                <a:gridCol w="722884">
                  <a:extLst>
                    <a:ext uri="{9D8B030D-6E8A-4147-A177-3AD203B41FA5}">
                      <a16:colId xmlns:a16="http://schemas.microsoft.com/office/drawing/2014/main" val="3682026246"/>
                    </a:ext>
                  </a:extLst>
                </a:gridCol>
                <a:gridCol w="1339596">
                  <a:extLst>
                    <a:ext uri="{9D8B030D-6E8A-4147-A177-3AD203B41FA5}">
                      <a16:colId xmlns:a16="http://schemas.microsoft.com/office/drawing/2014/main" val="681360299"/>
                    </a:ext>
                  </a:extLst>
                </a:gridCol>
                <a:gridCol w="932180">
                  <a:extLst>
                    <a:ext uri="{9D8B030D-6E8A-4147-A177-3AD203B41FA5}">
                      <a16:colId xmlns:a16="http://schemas.microsoft.com/office/drawing/2014/main" val="3056845081"/>
                    </a:ext>
                  </a:extLst>
                </a:gridCol>
                <a:gridCol w="865569">
                  <a:extLst>
                    <a:ext uri="{9D8B030D-6E8A-4147-A177-3AD203B41FA5}">
                      <a16:colId xmlns:a16="http://schemas.microsoft.com/office/drawing/2014/main" val="899475542"/>
                    </a:ext>
                  </a:extLst>
                </a:gridCol>
                <a:gridCol w="717868">
                  <a:extLst>
                    <a:ext uri="{9D8B030D-6E8A-4147-A177-3AD203B41FA5}">
                      <a16:colId xmlns:a16="http://schemas.microsoft.com/office/drawing/2014/main" val="3114066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Segment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Bacterial leaf blight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Brown spot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tungro</a:t>
                      </a:r>
                      <a:endParaRPr lang="en-ID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600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Train+Validation</a:t>
                      </a:r>
                      <a:endParaRPr lang="en-ID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1357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1108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6103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8437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9307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1506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1265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1467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1557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1308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7103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632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461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C9F55-197F-26F7-02D9-33F23F6E0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503A7-321E-906F-68B9-D7F0CBFE9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  <a:endParaRPr lang="en-ID" dirty="0"/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6FD97CDB-A598-B475-04D1-57E4683EB3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2464189"/>
              </p:ext>
            </p:extLst>
          </p:nvPr>
        </p:nvGraphicFramePr>
        <p:xfrm>
          <a:off x="2582917" y="1690688"/>
          <a:ext cx="7026166" cy="42098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22934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08390-A901-034D-1FB6-38FC8F70C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EA1C5-193E-78C3-A355-3A4A6551F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8FEFCE-01D1-6A75-4755-8CC92EE9E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492" y="1506001"/>
            <a:ext cx="9039016" cy="21794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C28143-224A-B3F2-390C-12E8791BA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6492" y="3880392"/>
            <a:ext cx="9039016" cy="217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481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EFD97-2392-4669-B2E3-F8F0B068F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63675-4B80-BF86-BF81-9C6D9A498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Augmentasi</a:t>
            </a:r>
            <a:endParaRPr lang="en-ID" dirty="0"/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2626DEFE-BCCC-ACAB-53BA-C81CB9802D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2745530"/>
              </p:ext>
            </p:extLst>
          </p:nvPr>
        </p:nvGraphicFramePr>
        <p:xfrm>
          <a:off x="2017632" y="1690688"/>
          <a:ext cx="8156736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3132">
                  <a:extLst>
                    <a:ext uri="{9D8B030D-6E8A-4147-A177-3AD203B41FA5}">
                      <a16:colId xmlns:a16="http://schemas.microsoft.com/office/drawing/2014/main" val="4266719985"/>
                    </a:ext>
                  </a:extLst>
                </a:gridCol>
                <a:gridCol w="2117195">
                  <a:extLst>
                    <a:ext uri="{9D8B030D-6E8A-4147-A177-3AD203B41FA5}">
                      <a16:colId xmlns:a16="http://schemas.microsoft.com/office/drawing/2014/main" val="1381716360"/>
                    </a:ext>
                  </a:extLst>
                </a:gridCol>
                <a:gridCol w="720004">
                  <a:extLst>
                    <a:ext uri="{9D8B030D-6E8A-4147-A177-3AD203B41FA5}">
                      <a16:colId xmlns:a16="http://schemas.microsoft.com/office/drawing/2014/main" val="3682026246"/>
                    </a:ext>
                  </a:extLst>
                </a:gridCol>
                <a:gridCol w="1327191">
                  <a:extLst>
                    <a:ext uri="{9D8B030D-6E8A-4147-A177-3AD203B41FA5}">
                      <a16:colId xmlns:a16="http://schemas.microsoft.com/office/drawing/2014/main" val="681360299"/>
                    </a:ext>
                  </a:extLst>
                </a:gridCol>
                <a:gridCol w="929300">
                  <a:extLst>
                    <a:ext uri="{9D8B030D-6E8A-4147-A177-3AD203B41FA5}">
                      <a16:colId xmlns:a16="http://schemas.microsoft.com/office/drawing/2014/main" val="3056845081"/>
                    </a:ext>
                  </a:extLst>
                </a:gridCol>
                <a:gridCol w="862689">
                  <a:extLst>
                    <a:ext uri="{9D8B030D-6E8A-4147-A177-3AD203B41FA5}">
                      <a16:colId xmlns:a16="http://schemas.microsoft.com/office/drawing/2014/main" val="899475542"/>
                    </a:ext>
                  </a:extLst>
                </a:gridCol>
                <a:gridCol w="837225">
                  <a:extLst>
                    <a:ext uri="{9D8B030D-6E8A-4147-A177-3AD203B41FA5}">
                      <a16:colId xmlns:a16="http://schemas.microsoft.com/office/drawing/2014/main" val="3114066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</a:p>
                  </a:txBody>
                  <a:tcPr marL="90000" marR="90000" marT="46800" marB="4680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bacterial leaf blight</a:t>
                      </a:r>
                    </a:p>
                  </a:txBody>
                  <a:tcPr marL="90000" marR="90000" marT="46800" marB="4680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blast</a:t>
                      </a:r>
                    </a:p>
                  </a:txBody>
                  <a:tcPr marL="90000" marR="90000" marT="46800" marB="4680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brown spot</a:t>
                      </a:r>
                    </a:p>
                  </a:txBody>
                  <a:tcPr marL="90000" marR="90000" marT="46800" marB="4680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</a:p>
                  </a:txBody>
                  <a:tcPr marL="90000" marR="90000" marT="46800" marB="4680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tungro</a:t>
                      </a:r>
                    </a:p>
                  </a:txBody>
                  <a:tcPr marL="90000" marR="90000" marT="46800" marB="4680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90000" marR="90000" marT="46800" marB="46800" anchor="b"/>
                </a:tc>
                <a:extLst>
                  <a:ext uri="{0D108BD9-81ED-4DB2-BD59-A6C34878D82A}">
                    <a16:rowId xmlns:a16="http://schemas.microsoft.com/office/drawing/2014/main" val="1383600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</a:t>
                      </a:r>
                    </a:p>
                  </a:txBody>
                  <a:tcPr marL="90000" marR="90000" marT="46800" marB="4680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1306</a:t>
                      </a:r>
                    </a:p>
                  </a:txBody>
                  <a:tcPr marL="90000" marR="90000" marT="46800" marB="4680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1065</a:t>
                      </a:r>
                    </a:p>
                  </a:txBody>
                  <a:tcPr marL="90000" marR="90000" marT="46800" marB="4680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1267</a:t>
                      </a:r>
                    </a:p>
                  </a:txBody>
                  <a:tcPr marL="90000" marR="90000" marT="46800" marB="4680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1357</a:t>
                      </a:r>
                    </a:p>
                  </a:txBody>
                  <a:tcPr marL="90000" marR="90000" marT="46800" marB="4680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1108</a:t>
                      </a:r>
                    </a:p>
                  </a:txBody>
                  <a:tcPr marL="90000" marR="90000" marT="46800" marB="4680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6103</a:t>
                      </a:r>
                    </a:p>
                  </a:txBody>
                  <a:tcPr marL="90000" marR="90000" marT="46800" marB="46800" anchor="b"/>
                </a:tc>
                <a:extLst>
                  <a:ext uri="{0D108BD9-81ED-4DB2-BD59-A6C34878D82A}">
                    <a16:rowId xmlns:a16="http://schemas.microsoft.com/office/drawing/2014/main" val="3038437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Augmented</a:t>
                      </a:r>
                    </a:p>
                  </a:txBody>
                  <a:tcPr marL="90000" marR="90000" marT="46800" marB="4680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3694</a:t>
                      </a:r>
                    </a:p>
                  </a:txBody>
                  <a:tcPr marL="90000" marR="90000" marT="46800" marB="4680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3935</a:t>
                      </a:r>
                    </a:p>
                  </a:txBody>
                  <a:tcPr marL="90000" marR="90000" marT="46800" marB="4680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3733</a:t>
                      </a:r>
                    </a:p>
                  </a:txBody>
                  <a:tcPr marL="90000" marR="90000" marT="46800" marB="4680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3643</a:t>
                      </a:r>
                    </a:p>
                  </a:txBody>
                  <a:tcPr marL="90000" marR="90000" marT="46800" marB="4680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3892</a:t>
                      </a:r>
                    </a:p>
                  </a:txBody>
                  <a:tcPr marL="90000" marR="90000" marT="46800" marB="4680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18897</a:t>
                      </a:r>
                    </a:p>
                  </a:txBody>
                  <a:tcPr marL="90000" marR="90000" marT="46800" marB="46800" anchor="b"/>
                </a:tc>
                <a:extLst>
                  <a:ext uri="{0D108BD9-81ED-4DB2-BD59-A6C34878D82A}">
                    <a16:rowId xmlns:a16="http://schemas.microsoft.com/office/drawing/2014/main" val="2339307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</a:p>
                  </a:txBody>
                  <a:tcPr marL="90000" marR="90000" marT="46800" marB="4680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5000</a:t>
                      </a:r>
                    </a:p>
                  </a:txBody>
                  <a:tcPr marL="90000" marR="90000" marT="46800" marB="4680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5000</a:t>
                      </a:r>
                    </a:p>
                  </a:txBody>
                  <a:tcPr marL="90000" marR="90000" marT="46800" marB="4680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5000</a:t>
                      </a:r>
                    </a:p>
                  </a:txBody>
                  <a:tcPr marL="90000" marR="90000" marT="46800" marB="4680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5000</a:t>
                      </a:r>
                    </a:p>
                  </a:txBody>
                  <a:tcPr marL="90000" marR="90000" marT="46800" marB="4680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5000</a:t>
                      </a:r>
                    </a:p>
                  </a:txBody>
                  <a:tcPr marL="90000" marR="90000" marT="46800" marB="4680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25000</a:t>
                      </a:r>
                    </a:p>
                  </a:txBody>
                  <a:tcPr marL="90000" marR="90000" marT="46800" marB="46800" anchor="b"/>
                </a:tc>
                <a:extLst>
                  <a:ext uri="{0D108BD9-81ED-4DB2-BD59-A6C34878D82A}">
                    <a16:rowId xmlns:a16="http://schemas.microsoft.com/office/drawing/2014/main" val="405632175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4720D92-FCF2-4994-BF42-7A5CB6552D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0180436"/>
              </p:ext>
            </p:extLst>
          </p:nvPr>
        </p:nvGraphicFramePr>
        <p:xfrm>
          <a:off x="2871216" y="3314700"/>
          <a:ext cx="6449568" cy="3063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66422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8A93C-44F4-5294-28B7-B24C80E58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0FBCA-CE6F-8523-A6A1-8873B3EFA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Normalisasi</a:t>
            </a:r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88A28F-0538-7977-66BB-188006BB8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570" y="1690688"/>
            <a:ext cx="9344860" cy="22532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6B7CC9-103A-B6B7-7481-B929182A8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570" y="4142852"/>
            <a:ext cx="9344860" cy="2253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183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0C075-4432-11D8-A6AB-4113B5A53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1EDD6-1765-F402-2CB6-B0F3EA71D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Ekstraksi</a:t>
            </a:r>
            <a:r>
              <a:rPr lang="en-US" dirty="0"/>
              <a:t> Fitur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0CE745-0210-194E-A329-6AACCBCEB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46719"/>
            <a:ext cx="4959128" cy="36017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DE7862-5AEA-EC88-7146-72A51A373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674" y="1946719"/>
            <a:ext cx="4911501" cy="360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976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2BD62-0496-0249-DEBD-C2E41FE8E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DF473-6694-5D43-3936-E9D6E8EDF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Ekstraksi</a:t>
            </a:r>
            <a:r>
              <a:rPr lang="en-US" dirty="0"/>
              <a:t> Fitur</a:t>
            </a:r>
            <a:endParaRPr lang="en-ID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61DFD8-58CA-A1D1-ECB3-F1A82015C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15365"/>
            <a:ext cx="4896131" cy="3603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EBB5DF-8A21-3F62-621A-909F935CE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671" y="1915365"/>
            <a:ext cx="4914000" cy="360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212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5772F-4CA9-86E0-42B0-7A8720D5E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13DC2-45B1-FEB2-61C1-50C23EAFE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Ekstraksi</a:t>
            </a:r>
            <a:r>
              <a:rPr lang="en-US" dirty="0"/>
              <a:t> Fitur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A17788-4242-EB4A-5FC3-E7D7DF0F8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15365"/>
            <a:ext cx="4914000" cy="3603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BB60850-DA0B-E80C-5ECA-8A01F467F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802" y="1915365"/>
            <a:ext cx="4914000" cy="360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402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5772F-4CA9-86E0-42B0-7A8720D5E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13DC2-45B1-FEB2-61C1-50C23EAFE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Ekstraksi</a:t>
            </a:r>
            <a:r>
              <a:rPr lang="en-US" dirty="0"/>
              <a:t> Fitur</a:t>
            </a:r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45AC5D-B491-E5C8-5E62-C55888F1C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284" y="1915365"/>
            <a:ext cx="4991433" cy="360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150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5906F-36D1-F2F9-16C1-E31199D13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5ABDB-50DB-2A5D-9323-C3ED92AA5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Ekstraksi</a:t>
            </a:r>
            <a:r>
              <a:rPr lang="en-US" dirty="0"/>
              <a:t> Fitur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8A1D8B-BE18-FF48-1F62-CB6871B00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750" y="1690688"/>
            <a:ext cx="5174500" cy="4627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592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D21D5-5804-8765-53A2-89AAC3FAE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A45FF-AD90-929F-9D06-4C0710375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Model &amp; Grid Search Params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7AB62-4A60-58C3-397C-7B74DD5CB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34057"/>
            <a:ext cx="10515600" cy="3442906"/>
          </a:xfrm>
        </p:spPr>
        <p:txBody>
          <a:bodyPr/>
          <a:lstStyle/>
          <a:p>
            <a:pPr>
              <a:tabLst>
                <a:tab pos="3230563" algn="l"/>
              </a:tabLst>
            </a:pPr>
            <a:r>
              <a:rPr lang="en-US" dirty="0"/>
              <a:t>PCA n components	: 0.95, 0.90</a:t>
            </a:r>
          </a:p>
          <a:p>
            <a:pPr>
              <a:tabLst>
                <a:tab pos="3230563" algn="l"/>
              </a:tabLst>
            </a:pPr>
            <a:r>
              <a:rPr lang="en-US" dirty="0"/>
              <a:t>SVC C	: 0.1, 1, 10, 100</a:t>
            </a:r>
          </a:p>
          <a:p>
            <a:pPr>
              <a:tabLst>
                <a:tab pos="3230563" algn="l"/>
              </a:tabLst>
            </a:pPr>
            <a:r>
              <a:rPr lang="en-US" dirty="0"/>
              <a:t>SVC gamma	: 0.001, 0.01, 0.1, 1</a:t>
            </a:r>
          </a:p>
          <a:p>
            <a:pPr>
              <a:tabLst>
                <a:tab pos="3230563" algn="l"/>
              </a:tabLst>
            </a:pPr>
            <a:r>
              <a:rPr lang="en-US" dirty="0"/>
              <a:t>SVC kernel	: RBF</a:t>
            </a:r>
          </a:p>
          <a:p>
            <a:pPr>
              <a:tabLst>
                <a:tab pos="3230563" algn="l"/>
              </a:tabLst>
            </a:pPr>
            <a:endParaRPr lang="en-US" dirty="0"/>
          </a:p>
          <a:p>
            <a:pPr>
              <a:tabLst>
                <a:tab pos="3230563" algn="l"/>
              </a:tabLst>
            </a:pPr>
            <a:r>
              <a:rPr lang="en-US" dirty="0" err="1"/>
              <a:t>StratifiedGroupKFold</a:t>
            </a:r>
            <a:r>
              <a:rPr lang="en-US" dirty="0"/>
              <a:t>: 5, Shuffled</a:t>
            </a:r>
            <a:endParaRPr lang="en-ID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C9E3B48-19D9-A717-C4C6-A4AAE46BA6A2}"/>
              </a:ext>
            </a:extLst>
          </p:cNvPr>
          <p:cNvGrpSpPr/>
          <p:nvPr/>
        </p:nvGrpSpPr>
        <p:grpSpPr>
          <a:xfrm>
            <a:off x="3779520" y="1843040"/>
            <a:ext cx="4632960" cy="369332"/>
            <a:chOff x="3561080" y="1843040"/>
            <a:chExt cx="4632960" cy="36933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AAF9976-3907-1E92-746E-482B6EC79BE9}"/>
                </a:ext>
              </a:extLst>
            </p:cNvPr>
            <p:cNvSpPr txBox="1"/>
            <p:nvPr/>
          </p:nvSpPr>
          <p:spPr>
            <a:xfrm>
              <a:off x="3561080" y="1843040"/>
              <a:ext cx="1755648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StandardSacler</a:t>
              </a:r>
              <a:endParaRPr lang="en-ID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E47D9B7-29B7-C69B-3AF2-F39A5C7E4C2E}"/>
                </a:ext>
              </a:extLst>
            </p:cNvPr>
            <p:cNvSpPr txBox="1"/>
            <p:nvPr/>
          </p:nvSpPr>
          <p:spPr>
            <a:xfrm>
              <a:off x="6109208" y="1843040"/>
              <a:ext cx="646176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PCA</a:t>
              </a:r>
              <a:endParaRPr lang="en-ID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A392BA9-C2F7-F01D-2EC0-26397FF8D8EA}"/>
                </a:ext>
              </a:extLst>
            </p:cNvPr>
            <p:cNvSpPr txBox="1"/>
            <p:nvPr/>
          </p:nvSpPr>
          <p:spPr>
            <a:xfrm>
              <a:off x="7547864" y="1843040"/>
              <a:ext cx="646176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SVM</a:t>
              </a:r>
              <a:endParaRPr lang="en-ID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E779796-8BF7-ABBF-793B-AD3D3A522943}"/>
                </a:ext>
              </a:extLst>
            </p:cNvPr>
            <p:cNvCxnSpPr>
              <a:cxnSpLocks/>
              <a:stCxn id="4" idx="3"/>
              <a:endCxn id="5" idx="1"/>
            </p:cNvCxnSpPr>
            <p:nvPr/>
          </p:nvCxnSpPr>
          <p:spPr>
            <a:xfrm>
              <a:off x="5316728" y="2027706"/>
              <a:ext cx="79248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6FBD904-DBF5-085A-B655-B571B744B2CE}"/>
                </a:ext>
              </a:extLst>
            </p:cNvPr>
            <p:cNvCxnSpPr>
              <a:cxnSpLocks/>
              <a:stCxn id="5" idx="3"/>
              <a:endCxn id="6" idx="1"/>
            </p:cNvCxnSpPr>
            <p:nvPr/>
          </p:nvCxnSpPr>
          <p:spPr>
            <a:xfrm>
              <a:off x="6755384" y="2027706"/>
              <a:ext cx="79248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92900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C5A1F-041B-2782-D9E3-DC45B0E75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C442C-CB09-6131-A80C-FC4C5910C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Grid Search Result</a:t>
            </a:r>
            <a:endParaRPr lang="en-ID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1B91117-381A-943C-1DF0-2DFACEF86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843858"/>
              </p:ext>
            </p:extLst>
          </p:nvPr>
        </p:nvGraphicFramePr>
        <p:xfrm>
          <a:off x="838197" y="2430041"/>
          <a:ext cx="10515598" cy="2490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37358">
                  <a:extLst>
                    <a:ext uri="{9D8B030D-6E8A-4147-A177-3AD203B41FA5}">
                      <a16:colId xmlns:a16="http://schemas.microsoft.com/office/drawing/2014/main" val="4116903986"/>
                    </a:ext>
                  </a:extLst>
                </a:gridCol>
                <a:gridCol w="1139641">
                  <a:extLst>
                    <a:ext uri="{9D8B030D-6E8A-4147-A177-3AD203B41FA5}">
                      <a16:colId xmlns:a16="http://schemas.microsoft.com/office/drawing/2014/main" val="1617716044"/>
                    </a:ext>
                  </a:extLst>
                </a:gridCol>
                <a:gridCol w="1175662">
                  <a:extLst>
                    <a:ext uri="{9D8B030D-6E8A-4147-A177-3AD203B41FA5}">
                      <a16:colId xmlns:a16="http://schemas.microsoft.com/office/drawing/2014/main" val="2309360038"/>
                    </a:ext>
                  </a:extLst>
                </a:gridCol>
                <a:gridCol w="600727">
                  <a:extLst>
                    <a:ext uri="{9D8B030D-6E8A-4147-A177-3AD203B41FA5}">
                      <a16:colId xmlns:a16="http://schemas.microsoft.com/office/drawing/2014/main" val="3150441090"/>
                    </a:ext>
                  </a:extLst>
                </a:gridCol>
                <a:gridCol w="758546">
                  <a:extLst>
                    <a:ext uri="{9D8B030D-6E8A-4147-A177-3AD203B41FA5}">
                      <a16:colId xmlns:a16="http://schemas.microsoft.com/office/drawing/2014/main" val="1569896873"/>
                    </a:ext>
                  </a:extLst>
                </a:gridCol>
                <a:gridCol w="1008979">
                  <a:extLst>
                    <a:ext uri="{9D8B030D-6E8A-4147-A177-3AD203B41FA5}">
                      <a16:colId xmlns:a16="http://schemas.microsoft.com/office/drawing/2014/main" val="1584678207"/>
                    </a:ext>
                  </a:extLst>
                </a:gridCol>
                <a:gridCol w="1400968">
                  <a:extLst>
                    <a:ext uri="{9D8B030D-6E8A-4147-A177-3AD203B41FA5}">
                      <a16:colId xmlns:a16="http://schemas.microsoft.com/office/drawing/2014/main" val="2171000484"/>
                    </a:ext>
                  </a:extLst>
                </a:gridCol>
                <a:gridCol w="1225898">
                  <a:extLst>
                    <a:ext uri="{9D8B030D-6E8A-4147-A177-3AD203B41FA5}">
                      <a16:colId xmlns:a16="http://schemas.microsoft.com/office/drawing/2014/main" val="2886484039"/>
                    </a:ext>
                  </a:extLst>
                </a:gridCol>
                <a:gridCol w="1184151">
                  <a:extLst>
                    <a:ext uri="{9D8B030D-6E8A-4147-A177-3AD203B41FA5}">
                      <a16:colId xmlns:a16="http://schemas.microsoft.com/office/drawing/2014/main" val="808012107"/>
                    </a:ext>
                  </a:extLst>
                </a:gridCol>
                <a:gridCol w="483668">
                  <a:extLst>
                    <a:ext uri="{9D8B030D-6E8A-4147-A177-3AD203B41FA5}">
                      <a16:colId xmlns:a16="http://schemas.microsoft.com/office/drawing/2014/main" val="1690259266"/>
                    </a:ext>
                  </a:extLst>
                </a:gridCol>
              </a:tblGrid>
              <a:tr h="4768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Feature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mean fit time (second)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PCA n components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svc C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svc gamma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mean test accuracy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mean test precision macro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mean test recall macro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mean test f1 macro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size (KB)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ctr"/>
                </a:tc>
                <a:extLst>
                  <a:ext uri="{0D108BD9-81ED-4DB2-BD59-A6C34878D82A}">
                    <a16:rowId xmlns:a16="http://schemas.microsoft.com/office/drawing/2014/main" val="1786544872"/>
                  </a:ext>
                </a:extLst>
              </a:tr>
              <a:tr h="2826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Momen warna HSV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5,0920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0,95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1,0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1,0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98,17%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98,18%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98,17%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98,17%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239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extLst>
                  <a:ext uri="{0D108BD9-81ED-4DB2-BD59-A6C34878D82A}">
                    <a16:rowId xmlns:a16="http://schemas.microsoft.com/office/drawing/2014/main" val="223454515"/>
                  </a:ext>
                </a:extLst>
              </a:tr>
              <a:tr h="2826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Momen warna LAB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4,2990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0,95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1,0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1,0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98,24%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98,26%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98,24%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98,24%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235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extLst>
                  <a:ext uri="{0D108BD9-81ED-4DB2-BD59-A6C34878D82A}">
                    <a16:rowId xmlns:a16="http://schemas.microsoft.com/office/drawing/2014/main" val="4261766047"/>
                  </a:ext>
                </a:extLst>
              </a:tr>
              <a:tr h="2826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LBP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5,5442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0,95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100,0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1,0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91,92%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91,98%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91,92%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91,92%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220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extLst>
                  <a:ext uri="{0D108BD9-81ED-4DB2-BD59-A6C34878D82A}">
                    <a16:rowId xmlns:a16="http://schemas.microsoft.com/office/drawing/2014/main" val="1913207553"/>
                  </a:ext>
                </a:extLst>
              </a:tr>
              <a:tr h="2826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GLCM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23,2710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0,95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100,0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1,0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74,78%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75,84%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74,78%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74,79%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459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extLst>
                  <a:ext uri="{0D108BD9-81ED-4DB2-BD59-A6C34878D82A}">
                    <a16:rowId xmlns:a16="http://schemas.microsoft.com/office/drawing/2014/main" val="3373249011"/>
                  </a:ext>
                </a:extLst>
              </a:tr>
              <a:tr h="2826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Warna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5,6523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0,95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1,0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1,0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98,35%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98,37%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98,35%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98,35%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414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extLst>
                  <a:ext uri="{0D108BD9-81ED-4DB2-BD59-A6C34878D82A}">
                    <a16:rowId xmlns:a16="http://schemas.microsoft.com/office/drawing/2014/main" val="2413285508"/>
                  </a:ext>
                </a:extLst>
              </a:tr>
              <a:tr h="2826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Tekstur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4,7463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0,95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10,0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1,0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95,88%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95,91%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95,88%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95,88%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343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/>
                </a:tc>
                <a:extLst>
                  <a:ext uri="{0D108BD9-81ED-4DB2-BD59-A6C34878D82A}">
                    <a16:rowId xmlns:a16="http://schemas.microsoft.com/office/drawing/2014/main" val="3104652338"/>
                  </a:ext>
                </a:extLst>
              </a:tr>
              <a:tr h="2826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300" u="none" strike="noStrike" dirty="0" err="1">
                          <a:effectLst/>
                        </a:rPr>
                        <a:t>Semua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2,8839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0,95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100,0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0,1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98,34%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98,35%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98,34%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98,35%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342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1" marR="88371" marT="44185" marB="44185" anchor="b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694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1942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69249-2F97-AC83-7626-6EEA33C88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45BAE-874A-52DA-B884-0B556EAE9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Grid Search Result</a:t>
            </a:r>
            <a:endParaRPr lang="en-ID" dirty="0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31D55E23-2F74-21CE-240E-DD55BF7FE3AD}"/>
              </a:ext>
            </a:extLst>
          </p:cNvPr>
          <p:cNvGraphicFramePr>
            <a:graphicFrameLocks/>
          </p:cNvGraphicFramePr>
          <p:nvPr/>
        </p:nvGraphicFramePr>
        <p:xfrm>
          <a:off x="1950720" y="2032635"/>
          <a:ext cx="8290560" cy="3524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03638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9351C-387A-42D9-5CC3-3849FEA8E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7B483-BE86-C9EA-F134-FAD24861F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Model &amp; Grid Search Params (2)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95048-B25A-AD95-4E15-11C091F3F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34057"/>
            <a:ext cx="10515600" cy="3442906"/>
          </a:xfrm>
        </p:spPr>
        <p:txBody>
          <a:bodyPr/>
          <a:lstStyle/>
          <a:p>
            <a:pPr>
              <a:tabLst>
                <a:tab pos="3230563" algn="l"/>
              </a:tabLst>
            </a:pPr>
            <a:r>
              <a:rPr lang="en-US" dirty="0"/>
              <a:t>PCA n components	: 0.95</a:t>
            </a:r>
          </a:p>
          <a:p>
            <a:pPr>
              <a:tabLst>
                <a:tab pos="3230563" algn="l"/>
              </a:tabLst>
            </a:pPr>
            <a:r>
              <a:rPr lang="en-US" dirty="0"/>
              <a:t>SVC C	: 10, 25, 50, 100</a:t>
            </a:r>
          </a:p>
          <a:p>
            <a:pPr>
              <a:tabLst>
                <a:tab pos="3230563" algn="l"/>
              </a:tabLst>
            </a:pPr>
            <a:r>
              <a:rPr lang="en-US" dirty="0"/>
              <a:t>SVC gamma	: 0.1, 1</a:t>
            </a:r>
          </a:p>
          <a:p>
            <a:pPr>
              <a:tabLst>
                <a:tab pos="3230563" algn="l"/>
              </a:tabLst>
            </a:pPr>
            <a:r>
              <a:rPr lang="en-US" dirty="0"/>
              <a:t>SVC kernel	: RBF</a:t>
            </a:r>
          </a:p>
          <a:p>
            <a:pPr>
              <a:tabLst>
                <a:tab pos="3230563" algn="l"/>
              </a:tabLst>
            </a:pPr>
            <a:endParaRPr lang="en-US" dirty="0"/>
          </a:p>
          <a:p>
            <a:pPr>
              <a:tabLst>
                <a:tab pos="3230563" algn="l"/>
              </a:tabLst>
            </a:pPr>
            <a:r>
              <a:rPr lang="en-US" dirty="0" err="1"/>
              <a:t>StratifiedGroupKFold</a:t>
            </a:r>
            <a:r>
              <a:rPr lang="en-US" dirty="0"/>
              <a:t>: 5, Shuffled</a:t>
            </a:r>
            <a:endParaRPr lang="en-ID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66B424F-A066-9697-389C-3E9C02EACC44}"/>
              </a:ext>
            </a:extLst>
          </p:cNvPr>
          <p:cNvGrpSpPr/>
          <p:nvPr/>
        </p:nvGrpSpPr>
        <p:grpSpPr>
          <a:xfrm>
            <a:off x="3779520" y="1843040"/>
            <a:ext cx="4632960" cy="369332"/>
            <a:chOff x="3561080" y="1843040"/>
            <a:chExt cx="4632960" cy="36933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0CBC1F7-36E1-B15E-BF10-19983E53FA41}"/>
                </a:ext>
              </a:extLst>
            </p:cNvPr>
            <p:cNvSpPr txBox="1"/>
            <p:nvPr/>
          </p:nvSpPr>
          <p:spPr>
            <a:xfrm>
              <a:off x="3561080" y="1843040"/>
              <a:ext cx="1755648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StandardSacler</a:t>
              </a:r>
              <a:endParaRPr lang="en-ID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805309A-7B55-06DD-E399-5B60E7C5DAED}"/>
                </a:ext>
              </a:extLst>
            </p:cNvPr>
            <p:cNvSpPr txBox="1"/>
            <p:nvPr/>
          </p:nvSpPr>
          <p:spPr>
            <a:xfrm>
              <a:off x="6109208" y="1843040"/>
              <a:ext cx="646176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PCA</a:t>
              </a:r>
              <a:endParaRPr lang="en-ID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53FD32F-26FC-6CD5-414A-2953FA65A61C}"/>
                </a:ext>
              </a:extLst>
            </p:cNvPr>
            <p:cNvSpPr txBox="1"/>
            <p:nvPr/>
          </p:nvSpPr>
          <p:spPr>
            <a:xfrm>
              <a:off x="7547864" y="1843040"/>
              <a:ext cx="646176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SVM</a:t>
              </a:r>
              <a:endParaRPr lang="en-ID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A36612F-7873-772E-FA8D-73F601D7411D}"/>
                </a:ext>
              </a:extLst>
            </p:cNvPr>
            <p:cNvCxnSpPr>
              <a:cxnSpLocks/>
              <a:stCxn id="4" idx="3"/>
              <a:endCxn id="5" idx="1"/>
            </p:cNvCxnSpPr>
            <p:nvPr/>
          </p:nvCxnSpPr>
          <p:spPr>
            <a:xfrm>
              <a:off x="5316728" y="2027706"/>
              <a:ext cx="79248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2992FD9-9606-1BE2-0B62-0EF1C2E4B07F}"/>
                </a:ext>
              </a:extLst>
            </p:cNvPr>
            <p:cNvCxnSpPr>
              <a:cxnSpLocks/>
              <a:stCxn id="5" idx="3"/>
              <a:endCxn id="6" idx="1"/>
            </p:cNvCxnSpPr>
            <p:nvPr/>
          </p:nvCxnSpPr>
          <p:spPr>
            <a:xfrm>
              <a:off x="6755384" y="2027706"/>
              <a:ext cx="79248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19200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3F6D7-0A71-ED13-3F31-147BF2BF3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3EC9E-DF1F-5C37-07FE-321BAE956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Grid Search Result (2)</a:t>
            </a:r>
            <a:endParaRPr lang="en-ID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F46BAA5-EA33-2E76-DAB2-235F22C9FE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194278"/>
              </p:ext>
            </p:extLst>
          </p:nvPr>
        </p:nvGraphicFramePr>
        <p:xfrm>
          <a:off x="838199" y="2225504"/>
          <a:ext cx="10515601" cy="224877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31899">
                  <a:extLst>
                    <a:ext uri="{9D8B030D-6E8A-4147-A177-3AD203B41FA5}">
                      <a16:colId xmlns:a16="http://schemas.microsoft.com/office/drawing/2014/main" val="1848966123"/>
                    </a:ext>
                  </a:extLst>
                </a:gridCol>
                <a:gridCol w="1581130">
                  <a:extLst>
                    <a:ext uri="{9D8B030D-6E8A-4147-A177-3AD203B41FA5}">
                      <a16:colId xmlns:a16="http://schemas.microsoft.com/office/drawing/2014/main" val="4275013581"/>
                    </a:ext>
                  </a:extLst>
                </a:gridCol>
                <a:gridCol w="936787">
                  <a:extLst>
                    <a:ext uri="{9D8B030D-6E8A-4147-A177-3AD203B41FA5}">
                      <a16:colId xmlns:a16="http://schemas.microsoft.com/office/drawing/2014/main" val="2327378181"/>
                    </a:ext>
                  </a:extLst>
                </a:gridCol>
                <a:gridCol w="986091">
                  <a:extLst>
                    <a:ext uri="{9D8B030D-6E8A-4147-A177-3AD203B41FA5}">
                      <a16:colId xmlns:a16="http://schemas.microsoft.com/office/drawing/2014/main" val="4017109934"/>
                    </a:ext>
                  </a:extLst>
                </a:gridCol>
                <a:gridCol w="1207691">
                  <a:extLst>
                    <a:ext uri="{9D8B030D-6E8A-4147-A177-3AD203B41FA5}">
                      <a16:colId xmlns:a16="http://schemas.microsoft.com/office/drawing/2014/main" val="1139129207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501405201"/>
                    </a:ext>
                  </a:extLst>
                </a:gridCol>
                <a:gridCol w="1409702">
                  <a:extLst>
                    <a:ext uri="{9D8B030D-6E8A-4147-A177-3AD203B41FA5}">
                      <a16:colId xmlns:a16="http://schemas.microsoft.com/office/drawing/2014/main" val="1341657588"/>
                    </a:ext>
                  </a:extLst>
                </a:gridCol>
                <a:gridCol w="1422401">
                  <a:extLst>
                    <a:ext uri="{9D8B030D-6E8A-4147-A177-3AD203B41FA5}">
                      <a16:colId xmlns:a16="http://schemas.microsoft.com/office/drawing/2014/main" val="536604646"/>
                    </a:ext>
                  </a:extLst>
                </a:gridCol>
              </a:tblGrid>
              <a:tr h="59800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u="none" strike="noStrike" dirty="0">
                          <a:effectLst/>
                        </a:rPr>
                        <a:t>mean test f1 macro rank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600" u="none" strike="noStrike" dirty="0" err="1">
                          <a:effectLst/>
                        </a:rPr>
                        <a:t>mean_fit_time</a:t>
                      </a:r>
                      <a:r>
                        <a:rPr lang="en-ID" sz="1600" u="none" strike="noStrike" dirty="0">
                          <a:effectLst/>
                        </a:rPr>
                        <a:t> (second)</a:t>
                      </a:r>
                      <a:endParaRPr lang="en-ID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600" u="none" strike="noStrike" dirty="0">
                          <a:effectLst/>
                        </a:rPr>
                        <a:t>svc C</a:t>
                      </a:r>
                      <a:endParaRPr lang="en-ID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600" u="none" strike="noStrike" dirty="0">
                          <a:effectLst/>
                        </a:rPr>
                        <a:t>svc gamma</a:t>
                      </a:r>
                      <a:endParaRPr lang="en-ID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600" u="none" strike="noStrike" dirty="0">
                          <a:effectLst/>
                        </a:rPr>
                        <a:t>mean test accuracy</a:t>
                      </a:r>
                      <a:endParaRPr lang="en-ID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600" u="none" strike="noStrike" dirty="0">
                          <a:effectLst/>
                        </a:rPr>
                        <a:t>mean test precision macro</a:t>
                      </a:r>
                      <a:endParaRPr lang="en-ID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600" u="none" strike="noStrike" dirty="0">
                          <a:effectLst/>
                        </a:rPr>
                        <a:t>mean test recall macro</a:t>
                      </a:r>
                      <a:endParaRPr lang="en-ID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600" u="none" strike="noStrike" dirty="0">
                          <a:effectLst/>
                        </a:rPr>
                        <a:t>mean test f1 macro</a:t>
                      </a:r>
                      <a:endParaRPr lang="en-ID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ctr"/>
                </a:tc>
                <a:extLst>
                  <a:ext uri="{0D108BD9-81ED-4DB2-BD59-A6C34878D82A}">
                    <a16:rowId xmlns:a16="http://schemas.microsoft.com/office/drawing/2014/main" val="1237971639"/>
                  </a:ext>
                </a:extLst>
              </a:tr>
              <a:tr h="3301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500" u="none" strike="noStrike" dirty="0">
                          <a:effectLst/>
                        </a:rPr>
                        <a:t>1</a:t>
                      </a:r>
                      <a:endParaRPr lang="en-ID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b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500" u="none" strike="noStrike" dirty="0">
                          <a:effectLst/>
                        </a:rPr>
                        <a:t>2,910029</a:t>
                      </a:r>
                      <a:endParaRPr lang="en-ID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b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500" u="none" strike="noStrike">
                          <a:effectLst/>
                        </a:rPr>
                        <a:t>50</a:t>
                      </a:r>
                      <a:endParaRPr lang="en-ID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b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500" u="none" strike="noStrike">
                          <a:effectLst/>
                        </a:rPr>
                        <a:t>0,1</a:t>
                      </a:r>
                      <a:endParaRPr lang="en-ID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b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98,42%</a:t>
                      </a:r>
                      <a:endParaRPr lang="en-ID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b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500" b="0" u="none" strike="noStrike">
                          <a:solidFill>
                            <a:srgbClr val="000000"/>
                          </a:solidFill>
                          <a:effectLst/>
                        </a:rPr>
                        <a:t>98,42%</a:t>
                      </a:r>
                      <a:endParaRPr lang="en-ID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b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98,42%</a:t>
                      </a:r>
                      <a:endParaRPr lang="en-ID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b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98,42%</a:t>
                      </a:r>
                      <a:endParaRPr lang="en-ID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b"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0743371"/>
                  </a:ext>
                </a:extLst>
              </a:tr>
              <a:tr h="3301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500" u="none" strike="noStrike" dirty="0">
                          <a:effectLst/>
                        </a:rPr>
                        <a:t>2</a:t>
                      </a:r>
                      <a:endParaRPr lang="en-ID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500" u="none" strike="noStrike">
                          <a:effectLst/>
                        </a:rPr>
                        <a:t>2,730338</a:t>
                      </a:r>
                      <a:endParaRPr lang="en-ID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500" u="none" strike="noStrike">
                          <a:effectLst/>
                        </a:rPr>
                        <a:t>25</a:t>
                      </a:r>
                      <a:endParaRPr lang="en-ID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500" u="none" strike="noStrike">
                          <a:effectLst/>
                        </a:rPr>
                        <a:t>0,1</a:t>
                      </a:r>
                      <a:endParaRPr lang="en-ID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500" b="0" u="none" strike="noStrike">
                          <a:solidFill>
                            <a:srgbClr val="000000"/>
                          </a:solidFill>
                          <a:effectLst/>
                        </a:rPr>
                        <a:t>98,41%</a:t>
                      </a:r>
                      <a:endParaRPr lang="en-ID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500" b="0" u="none" strike="noStrike">
                          <a:solidFill>
                            <a:srgbClr val="000000"/>
                          </a:solidFill>
                          <a:effectLst/>
                        </a:rPr>
                        <a:t>98,42%</a:t>
                      </a:r>
                      <a:endParaRPr lang="en-ID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500" b="0" u="none" strike="noStrike">
                          <a:solidFill>
                            <a:srgbClr val="000000"/>
                          </a:solidFill>
                          <a:effectLst/>
                        </a:rPr>
                        <a:t>98,41%</a:t>
                      </a:r>
                      <a:endParaRPr lang="en-ID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500" b="0" u="none" strike="noStrike">
                          <a:solidFill>
                            <a:srgbClr val="000000"/>
                          </a:solidFill>
                          <a:effectLst/>
                        </a:rPr>
                        <a:t>98,41%</a:t>
                      </a:r>
                      <a:endParaRPr lang="en-ID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b"/>
                </a:tc>
                <a:extLst>
                  <a:ext uri="{0D108BD9-81ED-4DB2-BD59-A6C34878D82A}">
                    <a16:rowId xmlns:a16="http://schemas.microsoft.com/office/drawing/2014/main" val="3705776495"/>
                  </a:ext>
                </a:extLst>
              </a:tr>
              <a:tr h="3301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500" u="none" strike="noStrike" dirty="0">
                          <a:effectLst/>
                        </a:rPr>
                        <a:t>3</a:t>
                      </a:r>
                      <a:endParaRPr lang="en-ID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500" u="none" strike="noStrike">
                          <a:effectLst/>
                        </a:rPr>
                        <a:t>2,594676</a:t>
                      </a:r>
                      <a:endParaRPr lang="en-ID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500" u="none" strike="noStrike">
                          <a:effectLst/>
                        </a:rPr>
                        <a:t>100</a:t>
                      </a:r>
                      <a:endParaRPr lang="en-ID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500" u="none" strike="noStrike">
                          <a:effectLst/>
                        </a:rPr>
                        <a:t>0,1</a:t>
                      </a:r>
                      <a:endParaRPr lang="en-ID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500" b="0" u="none" strike="noStrike">
                          <a:solidFill>
                            <a:srgbClr val="000000"/>
                          </a:solidFill>
                          <a:effectLst/>
                        </a:rPr>
                        <a:t>98,34%</a:t>
                      </a:r>
                      <a:endParaRPr lang="en-ID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500" b="0" u="none" strike="noStrike">
                          <a:solidFill>
                            <a:srgbClr val="000000"/>
                          </a:solidFill>
                          <a:effectLst/>
                        </a:rPr>
                        <a:t>98,35%</a:t>
                      </a:r>
                      <a:endParaRPr lang="en-ID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500" b="0" u="none" strike="noStrike">
                          <a:solidFill>
                            <a:srgbClr val="000000"/>
                          </a:solidFill>
                          <a:effectLst/>
                        </a:rPr>
                        <a:t>98,34%</a:t>
                      </a:r>
                      <a:endParaRPr lang="en-ID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500" b="0" u="none" strike="noStrike">
                          <a:solidFill>
                            <a:srgbClr val="000000"/>
                          </a:solidFill>
                          <a:effectLst/>
                        </a:rPr>
                        <a:t>98,35%</a:t>
                      </a:r>
                      <a:endParaRPr lang="en-ID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b"/>
                </a:tc>
                <a:extLst>
                  <a:ext uri="{0D108BD9-81ED-4DB2-BD59-A6C34878D82A}">
                    <a16:rowId xmlns:a16="http://schemas.microsoft.com/office/drawing/2014/main" val="2915124818"/>
                  </a:ext>
                </a:extLst>
              </a:tr>
              <a:tr h="3301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500" u="none" strike="noStrike" dirty="0">
                          <a:effectLst/>
                        </a:rPr>
                        <a:t>4</a:t>
                      </a:r>
                      <a:endParaRPr lang="en-ID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500" u="none" strike="noStrike">
                          <a:effectLst/>
                        </a:rPr>
                        <a:t>2,920487</a:t>
                      </a:r>
                      <a:endParaRPr lang="en-ID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500" u="none" strike="noStrike">
                          <a:effectLst/>
                        </a:rPr>
                        <a:t>10</a:t>
                      </a:r>
                      <a:endParaRPr lang="en-ID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500" u="none" strike="noStrike">
                          <a:effectLst/>
                        </a:rPr>
                        <a:t>0,1</a:t>
                      </a:r>
                      <a:endParaRPr lang="en-ID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500" b="0" u="none" strike="noStrike">
                          <a:solidFill>
                            <a:srgbClr val="000000"/>
                          </a:solidFill>
                          <a:effectLst/>
                        </a:rPr>
                        <a:t>98,33%</a:t>
                      </a:r>
                      <a:endParaRPr lang="en-ID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500" b="0" u="none" strike="noStrike">
                          <a:solidFill>
                            <a:srgbClr val="000000"/>
                          </a:solidFill>
                          <a:effectLst/>
                        </a:rPr>
                        <a:t>98,34%</a:t>
                      </a:r>
                      <a:endParaRPr lang="en-ID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500" b="0" u="none" strike="noStrike">
                          <a:solidFill>
                            <a:srgbClr val="000000"/>
                          </a:solidFill>
                          <a:effectLst/>
                        </a:rPr>
                        <a:t>98,33%</a:t>
                      </a:r>
                      <a:endParaRPr lang="en-ID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500" b="0" u="none" strike="noStrike">
                          <a:solidFill>
                            <a:srgbClr val="000000"/>
                          </a:solidFill>
                          <a:effectLst/>
                        </a:rPr>
                        <a:t>98,33%</a:t>
                      </a:r>
                      <a:endParaRPr lang="en-ID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b"/>
                </a:tc>
                <a:extLst>
                  <a:ext uri="{0D108BD9-81ED-4DB2-BD59-A6C34878D82A}">
                    <a16:rowId xmlns:a16="http://schemas.microsoft.com/office/drawing/2014/main" val="4039413526"/>
                  </a:ext>
                </a:extLst>
              </a:tr>
              <a:tr h="33015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1500" u="none" strike="noStrike" dirty="0">
                          <a:effectLst/>
                        </a:rPr>
                        <a:t>5</a:t>
                      </a:r>
                      <a:endParaRPr lang="en-ID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500" u="none" strike="noStrike">
                          <a:effectLst/>
                        </a:rPr>
                        <a:t>15,511428</a:t>
                      </a:r>
                      <a:endParaRPr lang="en-ID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500" u="none" strike="noStrike" dirty="0">
                          <a:effectLst/>
                        </a:rPr>
                        <a:t>25</a:t>
                      </a:r>
                      <a:endParaRPr lang="en-ID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500" u="none" strike="noStrike">
                          <a:effectLst/>
                        </a:rPr>
                        <a:t>1,0</a:t>
                      </a:r>
                      <a:endParaRPr lang="en-ID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500" b="0" u="none" strike="noStrike">
                          <a:solidFill>
                            <a:srgbClr val="000000"/>
                          </a:solidFill>
                          <a:effectLst/>
                        </a:rPr>
                        <a:t>97,54%</a:t>
                      </a:r>
                      <a:endParaRPr lang="en-ID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500" b="0" u="none" strike="noStrike">
                          <a:solidFill>
                            <a:srgbClr val="000000"/>
                          </a:solidFill>
                          <a:effectLst/>
                        </a:rPr>
                        <a:t>97,69%</a:t>
                      </a:r>
                      <a:endParaRPr lang="en-ID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500" b="0" u="none" strike="noStrike">
                          <a:solidFill>
                            <a:srgbClr val="000000"/>
                          </a:solidFill>
                          <a:effectLst/>
                        </a:rPr>
                        <a:t>97,54%</a:t>
                      </a:r>
                      <a:endParaRPr lang="en-ID" sz="15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5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97,56%</a:t>
                      </a:r>
                      <a:endParaRPr lang="en-ID" sz="1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8356" marR="98356" marT="49178" marB="49178" anchor="b"/>
                </a:tc>
                <a:extLst>
                  <a:ext uri="{0D108BD9-81ED-4DB2-BD59-A6C34878D82A}">
                    <a16:rowId xmlns:a16="http://schemas.microsoft.com/office/drawing/2014/main" val="39219977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81734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35F67-3B08-AB13-AADA-F860A6C36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C632-5A89-C289-3945-0A59A9635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Pengujian</a:t>
            </a:r>
            <a:r>
              <a:rPr lang="en-US" dirty="0"/>
              <a:t> Model</a:t>
            </a:r>
            <a:endParaRPr lang="en-ID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31BDAEF-8074-BE08-48DA-266B2FBCC9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136617"/>
              </p:ext>
            </p:extLst>
          </p:nvPr>
        </p:nvGraphicFramePr>
        <p:xfrm>
          <a:off x="838201" y="2067579"/>
          <a:ext cx="5257800" cy="323575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58778">
                  <a:extLst>
                    <a:ext uri="{9D8B030D-6E8A-4147-A177-3AD203B41FA5}">
                      <a16:colId xmlns:a16="http://schemas.microsoft.com/office/drawing/2014/main" val="1027405906"/>
                    </a:ext>
                  </a:extLst>
                </a:gridCol>
                <a:gridCol w="972446">
                  <a:extLst>
                    <a:ext uri="{9D8B030D-6E8A-4147-A177-3AD203B41FA5}">
                      <a16:colId xmlns:a16="http://schemas.microsoft.com/office/drawing/2014/main" val="282033391"/>
                    </a:ext>
                  </a:extLst>
                </a:gridCol>
                <a:gridCol w="678412">
                  <a:extLst>
                    <a:ext uri="{9D8B030D-6E8A-4147-A177-3AD203B41FA5}">
                      <a16:colId xmlns:a16="http://schemas.microsoft.com/office/drawing/2014/main" val="2756109759"/>
                    </a:ext>
                  </a:extLst>
                </a:gridCol>
                <a:gridCol w="896294">
                  <a:extLst>
                    <a:ext uri="{9D8B030D-6E8A-4147-A177-3AD203B41FA5}">
                      <a16:colId xmlns:a16="http://schemas.microsoft.com/office/drawing/2014/main" val="2913738502"/>
                    </a:ext>
                  </a:extLst>
                </a:gridCol>
                <a:gridCol w="851870">
                  <a:extLst>
                    <a:ext uri="{9D8B030D-6E8A-4147-A177-3AD203B41FA5}">
                      <a16:colId xmlns:a16="http://schemas.microsoft.com/office/drawing/2014/main" val="45170124"/>
                    </a:ext>
                  </a:extLst>
                </a:gridCol>
              </a:tblGrid>
              <a:tr h="3235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precision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recall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f1-score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support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/>
                </a:tc>
                <a:extLst>
                  <a:ext uri="{0D108BD9-81ED-4DB2-BD59-A6C34878D82A}">
                    <a16:rowId xmlns:a16="http://schemas.microsoft.com/office/drawing/2014/main" val="3464149252"/>
                  </a:ext>
                </a:extLst>
              </a:tr>
              <a:tr h="3235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300" u="none" strike="noStrike" dirty="0" err="1">
                          <a:effectLst/>
                        </a:rPr>
                        <a:t>bacterial_leaf_blight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0,9752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0,985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0,9801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200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/>
                </a:tc>
                <a:extLst>
                  <a:ext uri="{0D108BD9-81ED-4DB2-BD59-A6C34878D82A}">
                    <a16:rowId xmlns:a16="http://schemas.microsoft.com/office/drawing/2014/main" val="1628298845"/>
                  </a:ext>
                </a:extLst>
              </a:tr>
              <a:tr h="3235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blast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0,9797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0,965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0,9723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200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/>
                </a:tc>
                <a:extLst>
                  <a:ext uri="{0D108BD9-81ED-4DB2-BD59-A6C34878D82A}">
                    <a16:rowId xmlns:a16="http://schemas.microsoft.com/office/drawing/2014/main" val="2631802478"/>
                  </a:ext>
                </a:extLst>
              </a:tr>
              <a:tr h="3235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brown_spot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0,9704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0,985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0,9777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200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/>
                </a:tc>
                <a:extLst>
                  <a:ext uri="{0D108BD9-81ED-4DB2-BD59-A6C34878D82A}">
                    <a16:rowId xmlns:a16="http://schemas.microsoft.com/office/drawing/2014/main" val="3632652161"/>
                  </a:ext>
                </a:extLst>
              </a:tr>
              <a:tr h="3235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normal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1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0,99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0,995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200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2911721"/>
                  </a:ext>
                </a:extLst>
              </a:tr>
              <a:tr h="3235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300" u="none" strike="noStrike" dirty="0" err="1">
                          <a:effectLst/>
                        </a:rPr>
                        <a:t>tungro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1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1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1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200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5525928"/>
                  </a:ext>
                </a:extLst>
              </a:tr>
              <a:tr h="3235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32292067"/>
                  </a:ext>
                </a:extLst>
              </a:tr>
              <a:tr h="3235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accuracy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0,985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1000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2176042"/>
                  </a:ext>
                </a:extLst>
              </a:tr>
              <a:tr h="3235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macro avg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0,9851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0,985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0,985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1000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50484001"/>
                  </a:ext>
                </a:extLst>
              </a:tr>
              <a:tr h="3235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weighted avg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0,9851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0,985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0,985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1000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/>
                </a:tc>
                <a:extLst>
                  <a:ext uri="{0D108BD9-81ED-4DB2-BD59-A6C34878D82A}">
                    <a16:rowId xmlns:a16="http://schemas.microsoft.com/office/drawing/2014/main" val="1695876695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D7272CA-78F9-C2DD-BDC6-BC6789EDF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625" y="1690688"/>
            <a:ext cx="4829175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1257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B91DB-1B6B-6421-F627-F21CCB857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0079E-263C-9A8F-D7A9-1D0332C7D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Hasil Demo Data Lokal</a:t>
            </a:r>
            <a:endParaRPr lang="en-ID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2720F4E-05A7-856A-914F-91BC32008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Total Waktu </a:t>
            </a:r>
            <a:r>
              <a:rPr lang="en-ID" dirty="0" err="1"/>
              <a:t>Keseluruhan</a:t>
            </a:r>
            <a:r>
              <a:rPr lang="en-ID" dirty="0"/>
              <a:t>: 11.9116 </a:t>
            </a:r>
            <a:r>
              <a:rPr lang="en-ID" dirty="0" err="1"/>
              <a:t>detik</a:t>
            </a:r>
            <a:endParaRPr lang="en-ID" dirty="0"/>
          </a:p>
          <a:p>
            <a:pPr marL="0" indent="0">
              <a:buNone/>
            </a:pPr>
            <a:r>
              <a:rPr lang="en-ID" dirty="0"/>
              <a:t>Total Gambar </a:t>
            </a:r>
            <a:r>
              <a:rPr lang="en-ID" dirty="0" err="1"/>
              <a:t>Dites</a:t>
            </a:r>
            <a:r>
              <a:rPr lang="en-ID" dirty="0"/>
              <a:t>: 67</a:t>
            </a:r>
          </a:p>
          <a:p>
            <a:pPr marL="0" indent="0">
              <a:buNone/>
            </a:pPr>
            <a:r>
              <a:rPr lang="en-ID" dirty="0" err="1"/>
              <a:t>Durasi</a:t>
            </a:r>
            <a:r>
              <a:rPr lang="en-ID" dirty="0"/>
              <a:t> Rata-rata per Gambar:</a:t>
            </a:r>
          </a:p>
          <a:p>
            <a:r>
              <a:rPr lang="en-ID" dirty="0" err="1"/>
              <a:t>Memuat</a:t>
            </a:r>
            <a:r>
              <a:rPr lang="en-ID" dirty="0"/>
              <a:t> Gambar: 0.093659 </a:t>
            </a:r>
            <a:r>
              <a:rPr lang="en-ID" dirty="0" err="1"/>
              <a:t>detik</a:t>
            </a:r>
            <a:endParaRPr lang="en-ID" dirty="0"/>
          </a:p>
          <a:p>
            <a:r>
              <a:rPr lang="en-ID" dirty="0" err="1"/>
              <a:t>Ekstraksi</a:t>
            </a:r>
            <a:r>
              <a:rPr lang="en-ID" dirty="0"/>
              <a:t> Fitur: 0.080897 </a:t>
            </a:r>
            <a:r>
              <a:rPr lang="en-ID" dirty="0" err="1"/>
              <a:t>detik</a:t>
            </a:r>
            <a:endParaRPr lang="en-ID" dirty="0"/>
          </a:p>
          <a:p>
            <a:r>
              <a:rPr lang="en-ID" dirty="0" err="1"/>
              <a:t>Prediksi</a:t>
            </a:r>
            <a:r>
              <a:rPr lang="en-ID" dirty="0"/>
              <a:t> Model: 0.003155 </a:t>
            </a:r>
            <a:r>
              <a:rPr lang="en-ID" dirty="0" err="1"/>
              <a:t>detik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156177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C7A72-E328-5503-D9A6-2E89A2A26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38B00-39EB-CD4C-B5C3-9F67E2FC7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Hasil Demo Data Lokal</a:t>
            </a:r>
            <a:endParaRPr lang="en-ID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19D79AE-0E01-330D-024F-E4A3C2532005}"/>
              </a:ext>
            </a:extLst>
          </p:cNvPr>
          <p:cNvGraphicFramePr>
            <a:graphicFrameLocks noGrp="1"/>
          </p:cNvGraphicFramePr>
          <p:nvPr/>
        </p:nvGraphicFramePr>
        <p:xfrm>
          <a:off x="838201" y="2067579"/>
          <a:ext cx="5296732" cy="323575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58778">
                  <a:extLst>
                    <a:ext uri="{9D8B030D-6E8A-4147-A177-3AD203B41FA5}">
                      <a16:colId xmlns:a16="http://schemas.microsoft.com/office/drawing/2014/main" val="1027405906"/>
                    </a:ext>
                  </a:extLst>
                </a:gridCol>
                <a:gridCol w="972446">
                  <a:extLst>
                    <a:ext uri="{9D8B030D-6E8A-4147-A177-3AD203B41FA5}">
                      <a16:colId xmlns:a16="http://schemas.microsoft.com/office/drawing/2014/main" val="282033391"/>
                    </a:ext>
                  </a:extLst>
                </a:gridCol>
                <a:gridCol w="717344">
                  <a:extLst>
                    <a:ext uri="{9D8B030D-6E8A-4147-A177-3AD203B41FA5}">
                      <a16:colId xmlns:a16="http://schemas.microsoft.com/office/drawing/2014/main" val="2756109759"/>
                    </a:ext>
                  </a:extLst>
                </a:gridCol>
                <a:gridCol w="896294">
                  <a:extLst>
                    <a:ext uri="{9D8B030D-6E8A-4147-A177-3AD203B41FA5}">
                      <a16:colId xmlns:a16="http://schemas.microsoft.com/office/drawing/2014/main" val="2913738502"/>
                    </a:ext>
                  </a:extLst>
                </a:gridCol>
                <a:gridCol w="851870">
                  <a:extLst>
                    <a:ext uri="{9D8B030D-6E8A-4147-A177-3AD203B41FA5}">
                      <a16:colId xmlns:a16="http://schemas.microsoft.com/office/drawing/2014/main" val="45170124"/>
                    </a:ext>
                  </a:extLst>
                </a:gridCol>
              </a:tblGrid>
              <a:tr h="3235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precision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recall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f1-score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support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/>
                </a:tc>
                <a:extLst>
                  <a:ext uri="{0D108BD9-81ED-4DB2-BD59-A6C34878D82A}">
                    <a16:rowId xmlns:a16="http://schemas.microsoft.com/office/drawing/2014/main" val="3464149252"/>
                  </a:ext>
                </a:extLst>
              </a:tr>
              <a:tr h="3235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300" u="none" strike="noStrike" dirty="0" err="1">
                          <a:effectLst/>
                        </a:rPr>
                        <a:t>bacterial_leaf_blight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0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0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kumimoji="0" lang="en-ID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941" marR="95941" marT="47970" marB="47970" anchor="b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kumimoji="0" lang="en-ID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941" marR="95941" marT="47970" marB="47970" anchor="b"/>
                </a:tc>
                <a:extLst>
                  <a:ext uri="{0D108BD9-81ED-4DB2-BD59-A6C34878D82A}">
                    <a16:rowId xmlns:a16="http://schemas.microsoft.com/office/drawing/2014/main" val="1628298845"/>
                  </a:ext>
                </a:extLst>
              </a:tr>
              <a:tr h="3235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blast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0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0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kumimoji="0" lang="en-ID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941" marR="95941" marT="47970" marB="47970" anchor="b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kumimoji="0" lang="en-ID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941" marR="95941" marT="47970" marB="47970" anchor="b"/>
                </a:tc>
                <a:extLst>
                  <a:ext uri="{0D108BD9-81ED-4DB2-BD59-A6C34878D82A}">
                    <a16:rowId xmlns:a16="http://schemas.microsoft.com/office/drawing/2014/main" val="2631802478"/>
                  </a:ext>
                </a:extLst>
              </a:tr>
              <a:tr h="3235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brown_spot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0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0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kumimoji="0" lang="en-ID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941" marR="95941" marT="47970" marB="47970" anchor="b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kumimoji="0" lang="en-ID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941" marR="95941" marT="47970" marB="47970" anchor="b"/>
                </a:tc>
                <a:extLst>
                  <a:ext uri="{0D108BD9-81ED-4DB2-BD59-A6C34878D82A}">
                    <a16:rowId xmlns:a16="http://schemas.microsoft.com/office/drawing/2014/main" val="3632652161"/>
                  </a:ext>
                </a:extLst>
              </a:tr>
              <a:tr h="3235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normal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1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0,6269</a:t>
                      </a:r>
                    </a:p>
                  </a:txBody>
                  <a:tcPr marL="95941" marR="95941" marT="47970" marB="4797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0,995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67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2911721"/>
                  </a:ext>
                </a:extLst>
              </a:tr>
              <a:tr h="3235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300" u="none" strike="noStrike" dirty="0" err="1">
                          <a:effectLst/>
                        </a:rPr>
                        <a:t>tungro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0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kumimoji="0" lang="en-ID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941" marR="95941" marT="47970" marB="479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kumimoji="0" lang="en-ID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941" marR="95941" marT="47970" marB="479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0</a:t>
                      </a:r>
                      <a:endParaRPr kumimoji="0" lang="en-ID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941" marR="95941" marT="47970" marB="479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5525928"/>
                  </a:ext>
                </a:extLst>
              </a:tr>
              <a:tr h="3235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32292067"/>
                  </a:ext>
                </a:extLst>
              </a:tr>
              <a:tr h="3235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accuracy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0,</a:t>
                      </a:r>
                      <a:r>
                        <a:rPr lang="en-ID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6269</a:t>
                      </a:r>
                      <a:endParaRPr lang="en-ID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941" marR="95941" marT="47970" marB="479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1000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2176042"/>
                  </a:ext>
                </a:extLst>
              </a:tr>
              <a:tr h="3235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macro avg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0,25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0,1567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0,1927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1000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850484001"/>
                  </a:ext>
                </a:extLst>
              </a:tr>
              <a:tr h="3235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1300" u="none" strike="noStrike">
                          <a:effectLst/>
                        </a:rPr>
                        <a:t>weighted avg</a:t>
                      </a:r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1,00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0,6269</a:t>
                      </a:r>
                    </a:p>
                  </a:txBody>
                  <a:tcPr marL="95941" marR="95941" marT="47970" marB="4797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0,7706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D" sz="1300" u="none" strike="noStrike" dirty="0">
                          <a:effectLst/>
                        </a:rPr>
                        <a:t>1000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941" marR="95941" marT="47970" marB="47970" anchor="b"/>
                </a:tc>
                <a:extLst>
                  <a:ext uri="{0D108BD9-81ED-4DB2-BD59-A6C34878D82A}">
                    <a16:rowId xmlns:a16="http://schemas.microsoft.com/office/drawing/2014/main" val="169587669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0B5592B-EDFE-B209-A6CE-B04074DA0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349" y="1795806"/>
            <a:ext cx="474345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442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847</TotalTime>
  <Words>623</Words>
  <Application>Microsoft Office PowerPoint</Application>
  <PresentationFormat>Widescreen</PresentationFormat>
  <Paragraphs>355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Aptos Narrow</vt:lpstr>
      <vt:lpstr>Arial</vt:lpstr>
      <vt:lpstr>Office Theme</vt:lpstr>
      <vt:lpstr>Klasifikasi Penyakit Padi dengan SVM</vt:lpstr>
      <vt:lpstr>Dataset</vt:lpstr>
      <vt:lpstr>Dataset</vt:lpstr>
      <vt:lpstr>Dataset</vt:lpstr>
      <vt:lpstr>Augmentasi</vt:lpstr>
      <vt:lpstr>Normalisasi</vt:lpstr>
      <vt:lpstr>Ekstraksi Fitur</vt:lpstr>
      <vt:lpstr>Ekstraksi Fitur</vt:lpstr>
      <vt:lpstr>Ekstraksi Fitur</vt:lpstr>
      <vt:lpstr>Ekstraksi Fitur</vt:lpstr>
      <vt:lpstr>Ekstraksi Fitur</vt:lpstr>
      <vt:lpstr>Pipeline Model &amp; Grid Search Params</vt:lpstr>
      <vt:lpstr>Grid Search Result</vt:lpstr>
      <vt:lpstr>Grid Search Result</vt:lpstr>
      <vt:lpstr>Pipeline Model &amp; Grid Search Params (2)</vt:lpstr>
      <vt:lpstr>Grid Search Result (2)</vt:lpstr>
      <vt:lpstr>Pengujian Model</vt:lpstr>
      <vt:lpstr>Hasil Demo Data Lokal</vt:lpstr>
      <vt:lpstr>Hasil Demo Data Lokal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Mario Alfredo Bawu</dc:creator>
  <cp:lastModifiedBy>Mario Alfredo Bawu</cp:lastModifiedBy>
  <cp:revision>1</cp:revision>
  <dcterms:created xsi:type="dcterms:W3CDTF">2026-01-28T15:35:34Z</dcterms:created>
  <dcterms:modified xsi:type="dcterms:W3CDTF">2026-01-29T05:42:43Z</dcterms:modified>
</cp:coreProperties>
</file>